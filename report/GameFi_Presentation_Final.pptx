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🎮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GameFi Protocol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371600" y="1115568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ERC-1155 In-Game Item Economy · Arbitrum Sepolia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Technologies 2 — Final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18288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29968"/>
            <a:ext cx="502920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9968"/>
            <a:ext cx="45720" cy="2468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03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5146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Gizatov Diar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7432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· GameAMM · GameVault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08152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Rymbaev Eskendir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31012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Subgraph ·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64845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Kalieva Nazerke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877056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GameToken · Security Audit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029968"/>
            <a:ext cx="3200400" cy="246888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2029968"/>
            <a:ext cx="45720" cy="2468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1031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51460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SE-2421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01752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301752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5204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52044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deployed &amp; verified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402336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023360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total · all pass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github.com/Heb1ks/BlockFINAL2-  ·  Chain ID: 421614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decentralized GameFi economy on Arbitrum Sepolia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15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production-grade Solidity smart contracts forming a complete blockchain gaming economy: token, items, DEX, vault, rental, loot, governance, and factory.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26280" y="1024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115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L2 (Arbitrum Sepolia)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17720" y="1435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EVM security as Ethereum Mainnet but ~10x lower transaction costs. Ideal for frequent in-game interactions like swaps, mints, and rentals.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320040" y="2167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258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2578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ReentrancyGuard, SafeERC20, CEI pattern, AccessControl roles, 2-day Timelock. Zero High and Zero Medium findings in internal security audit.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526280" y="2167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20640" y="2258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617720" y="2578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tests: 110+ unit, 16 fuzz (256 runs each), 5 invariant (64 runs, depth 15), 3 mainnet fork tests. All pass. ≥90% line coverage.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20040" y="3310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11480" y="3721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 (GameToken+GameDAO+Timelock) · Economy layer (GameAMM+GameVault+NFTRentalVault) · Asset layer (GameItems+LootDrop+GameFactory).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526280" y="3310128"/>
            <a:ext cx="4023360" cy="10515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1772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34015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617720" y="37216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v2 for provably fair loot · Chainlink Price Feed with staleness check · The Graph subgraph (9 entities, 100% synced) · Arbiscan verified.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Languages, frameworks, and infrastructure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74320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98755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140817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36245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0.8.20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9768" y="1746504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170078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Contracts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29768" y="2084832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0391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Yul Assembly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29768" y="2423160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37744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/ ERC-1155 / ERC-4626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3154680" y="98755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87552"/>
            <a:ext cx="274320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98755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Testing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4408" y="1408176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136245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(Forge + Cast)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3264408" y="174650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170078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 (256 runs)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3264408" y="208483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10712" y="20391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Testing (64 runs)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264408" y="24231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7744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Tests (Mainnet)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989320" y="98755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987552"/>
            <a:ext cx="27432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98755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&amp; Randomness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9048" y="14081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136245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v2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099048" y="174650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170078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Price Feed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099048" y="208483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203911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AggregatorV3Interface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099048" y="2423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45352" y="237744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 validation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320040" y="290779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0040" y="2907792"/>
            <a:ext cx="2743200" cy="32918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3192" y="290779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Analytics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9768" y="3328416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" y="32826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(Studio)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429768" y="3666744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" y="362102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indexed entities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429768" y="4005072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" y="395935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queries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429768" y="4343400"/>
            <a:ext cx="91440" cy="9144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" y="42976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 subgraph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3154680" y="290779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54680" y="2907792"/>
            <a:ext cx="2743200" cy="3291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27832" y="290779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Ops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264408" y="332841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0712" y="32826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 (L2)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3264408" y="366674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10712" y="362102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Deploy Scripts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3264408" y="400507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410712" y="395935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Arbiscan verification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3264408" y="43434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10712" y="42976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helpers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5989320" y="2907792"/>
            <a:ext cx="27432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89320" y="2907792"/>
            <a:ext cx="274320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62472" y="2907792"/>
            <a:ext cx="2633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099048" y="332841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45352" y="3282696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Slither static analysis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6099048" y="3666744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45352" y="362102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</a:t>
            </a:r>
            <a:endParaRPr lang="en-US" sz="980" dirty="0"/>
          </a:p>
        </p:txBody>
      </p:sp>
      <p:sp>
        <p:nvSpPr>
          <p:cNvPr id="67" name="Shape 65"/>
          <p:cNvSpPr/>
          <p:nvPr/>
        </p:nvSpPr>
        <p:spPr>
          <a:xfrm>
            <a:off x="6099048" y="400507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45352" y="395935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SafeERC20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6099048" y="434340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45352" y="429768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pattern + Timelock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smart contract design on Arbitrum Sepolia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33502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ERC20Votes + ERC20Permit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1,000,000 GAME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10128" y="129844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33502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GameDAO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 Governor · 1d delay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1w period · 4% quorum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0216" y="129844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133502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TimelockController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delay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admin functions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8503920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4203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85292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3192" y="288950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GameAMM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x·y=k · 0.3% fee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 assembly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0128" y="285292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0" y="288950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 (ERC-4626)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for stakers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price feed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0216" y="285292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3368" y="288950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NFTRentalVault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rentals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platform fee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4096512"/>
            <a:ext cx="85039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09651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+ INFRA LAYER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40740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3192" y="444398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 (ERC-1155)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Proxy V1→V2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MINTER + UPGRADER roles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440740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83280" y="444398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LootDrop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drop rate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0216" y="4407408"/>
            <a:ext cx="2697480" cy="932688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73368" y="4443984"/>
            <a:ext cx="2551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GameFactory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CREATE2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deploy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Chainlink VRF · Chainlink Price Feed · The Graph subgraph · Arbiscan (verified)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Governance: GameToken + GameDAO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decentralized governance with 2-day Timelock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GameToken (ERC-20)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voting token for the entire protocol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74520" y="1755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+ ERC20Votes + ERC20Permit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9842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Supply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7452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 GAME (hard cap)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4414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00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Mint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74520" y="26700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GAME → deployer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8986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Access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74520" y="3127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onlyOwner (Timelock after deploy)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3558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844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74520" y="35844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Checkpoint-based snapshots (EIP-6372)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38130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416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74520" y="40416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Gasless approvals via EIP-2612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0424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  GameDAO (Governor)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1408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OpenZeppelin Governor stack + TimelockController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1755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Delay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17556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19842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2128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Period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92240" y="22128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24414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6700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Quorum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26700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of total supply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8986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31272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Threshold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31272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of total supply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33558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5844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 Delay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35844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(all admin actions)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3813048"/>
            <a:ext cx="365760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40416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Flash-loan Guard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92240" y="40416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Snapshot-based voting power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818888"/>
            <a:ext cx="1136469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547949" y="4818888"/>
            <a:ext cx="1136469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47949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75857" y="4818888"/>
            <a:ext cx="1136469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75857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Delay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003766" y="4818888"/>
            <a:ext cx="1136469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03766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1w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231674" y="4818888"/>
            <a:ext cx="1136469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31674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459583" y="4818888"/>
            <a:ext cx="1136469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59583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Timelock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7687491" y="4818888"/>
            <a:ext cx="1136469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87491" y="4818888"/>
            <a:ext cx="11364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GameItems: ERC-1155 + UUPS Upgradeability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item types · V1→V2 upgrade with on-chain crafting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303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🗡  GameItems (ERC-1155)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240280" cy="5029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5179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" y="17282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2240280" cy="5029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21396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" y="2350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724912"/>
            <a:ext cx="2240280" cy="5029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" y="27614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76072" y="29718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26080" y="1481328"/>
            <a:ext cx="2240280" cy="5029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151790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99232" y="172821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926080" y="2103120"/>
            <a:ext cx="2240280" cy="5029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213969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99232" y="235000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Orb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41985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" y="341985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MINTER_ROLE → LootDrop + Timelock   |   UPGRADER_ROLE → Timelock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3749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" y="374904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ERC-1967 · _authorizeUpgrade: onlyRole(UPGRADER_ROLE)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407822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adds: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40782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crafting (burn inputs → mint output item)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06440" y="987552"/>
            <a:ext cx="3017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0" y="1042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Upgrade 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1481328"/>
            <a:ext cx="2743200" cy="749808"/>
          </a:xfrm>
          <a:prstGeom prst="rect">
            <a:avLst/>
          </a:prstGeom>
          <a:solidFill>
            <a:srgbClr val="0E1F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148132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Contract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 address)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state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223760" y="2231136"/>
            <a:ext cx="0" cy="12801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23042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2377440"/>
            <a:ext cx="2743200" cy="749808"/>
          </a:xfrm>
          <a:prstGeom prst="rect">
            <a:avLst/>
          </a:prstGeom>
          <a:solidFill>
            <a:srgbClr val="0E1F35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377440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(GameItems)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223760" y="3127248"/>
            <a:ext cx="0" cy="128016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0" y="3200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3273552"/>
            <a:ext cx="2743200" cy="749808"/>
          </a:xfrm>
          <a:prstGeom prst="rect">
            <a:avLst/>
          </a:prstGeom>
          <a:solidFill>
            <a:srgbClr val="0E1F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73552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V2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(GameItemsV2 + craft)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0" y="415137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upgradeTo(V2)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onlyRole(UPGRADER_ROLE)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GameAMM: Constant-Product DEX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x·y=k formula · 0.3% fee · LP tokens · Inline Yul optimization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303520" cy="283464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2834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⚗  AMM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47088" y="14447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· y = k (constant-product invariant)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673352"/>
            <a:ext cx="484632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Fee: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47088" y="19019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0.3% retained in pool (no external treasury)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130552"/>
            <a:ext cx="484632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591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Tokens: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47088" y="23591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ERC-20 (GameLP / GLP) — proportional shares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587752"/>
            <a:ext cx="484632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16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28163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minAmountOut slippage · nonReentrant guard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044952"/>
            <a:ext cx="484632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735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47088" y="32735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swapAtoB · swapBtoA · addLiquidity · removeLiquidity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5303520" cy="1024128"/>
          </a:xfrm>
          <a:prstGeom prst="rect">
            <a:avLst/>
          </a:prstGeom>
          <a:solidFill>
            <a:srgbClr val="0E1F35"/>
          </a:solidFill>
          <a:ln w="63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9684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Yul Assembly Optimization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_sqrt (Solidity): ~230 gas  →  _sqrt (Yul): ~170 gas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34840" y="43159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 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608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_getAmountOut (Solidity): ~115 gas  →  _getAmountOut (Yul): ~95 gas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46085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 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06440" y="987552"/>
            <a:ext cx="3017520" cy="3950208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0424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Flow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897880" y="1426464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1426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approve TOKEN_A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97880" y="1828800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89320" y="18288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swapAtoB(amountIn, min)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2231136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223113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validate amountIn &gt; 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2633472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26334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pull TOKEN_A (SafeERC20)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897880" y="3035808"/>
            <a:ext cx="2834640" cy="347472"/>
          </a:xfrm>
          <a:prstGeom prst="rect">
            <a:avLst/>
          </a:prstGeom>
          <a:solidFill>
            <a:srgbClr val="0E2A1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89320" y="303580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compute amountOut (Yul)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897880" y="3438144"/>
            <a:ext cx="2834640" cy="347472"/>
          </a:xfrm>
          <a:prstGeom prst="rect">
            <a:avLst/>
          </a:prstGeom>
          <a:solidFill>
            <a:srgbClr val="0E2A1F"/>
          </a:solidFill>
          <a:ln w="9525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343814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check slippage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97880" y="3840480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89320" y="3840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transfer TOKEN_B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97880" y="4242816"/>
            <a:ext cx="28346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42428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emit Swap event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 (ERC-4626) + NFTRentalVault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protocol + ERC-1155 item rental marketplace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GameVault (ERC-4626)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755648" y="14447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ERC-4626 tokenized yield vault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Token: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755648" y="1856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staked → vault shares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67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source: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755648" y="22677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fees from NFTRentalVault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246888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9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Oracle: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755648" y="2679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price feed (ETH/USD)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Staleness: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755648" y="30906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 if price &gt; 1 hour old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021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Rounding: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755648" y="35021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(rounding invariant)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755648" y="39136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 on all state changes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NFTRentalVault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846320" y="14447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099048" y="14447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ERC-1155 GameItems (any token ID)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846320" y="16459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18562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099048" y="1856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tokens per day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846320" y="205740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267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Fee: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099048" y="22677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platform fee (max 10%)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846320" y="246888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679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Duration: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099048" y="267919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per rental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4846320" y="288036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30906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6099048" y="309067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Pull-over-push for fee withdrawal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4846320" y="329184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50215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Escrow: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6099048" y="350215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held in vault during listing</a:t>
            </a:r>
            <a:endParaRPr lang="en-US" sz="920" dirty="0"/>
          </a:p>
        </p:txBody>
      </p:sp>
      <p:sp>
        <p:nvSpPr>
          <p:cNvPr id="48" name="Shape 46"/>
          <p:cNvSpPr/>
          <p:nvPr/>
        </p:nvSpPr>
        <p:spPr>
          <a:xfrm>
            <a:off x="4846320" y="37033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91363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Guard: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6099048" y="39136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 · SafeERC20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320040" y="4818888"/>
            <a:ext cx="8503920" cy="25603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818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listItem()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130552" y="4818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rentItem()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49624" y="4818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[rental period]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568696" y="4818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endRental()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87768" y="481888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delistItem()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LootDrop: Chainlink VRF v2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fair random item distribution · DAO-governed drop rates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  LootDrop Contract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VRF Version: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938528" y="14447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v2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16459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562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Rate: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938528" y="18562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500/1000 = 50% (DAO-governed)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26771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Confirmations: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1938528" y="226771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block confirmations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2920" y="246888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7919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Gas: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938528" y="267919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200,000 (CALLBACK_GAS_LIMIT)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502920" y="288036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90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Selection: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1938528" y="309067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 % 5 → itemId 0-4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0215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1938528" y="350215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5 LINK · 2 consumers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02920" y="37033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1363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Minting: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1938528" y="3913632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MINTER_ROLE on GameItems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VRF Subscription</a:t>
            </a:r>
            <a:endParaRPr lang="en-US" sz="11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53312"/>
            <a:ext cx="4023360" cy="34930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GameFactory + The Graph Subgraph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deployment · On-chain event indexing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182880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GameFactory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081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deploys GameItems(admin)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7373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700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CREATE2 → deploys GameItems with salt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2996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99339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→ deploys GameAMM(tokenA,tokenB)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2860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predictGameItemsAddress(salt) → off-chain prediction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61518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578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onlyOwner for all deploy functions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160520" cy="19933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45720" cy="19933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809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Deployed &amp; Verified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33467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 Arbitrum Sepolia  ·  Chain ID: 421614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contracts deployed and source-verified on Arbiscan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38770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script: script/Deploy.s.sol (idempotent)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414223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Arbiscan API + forge verify-contract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0241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— gamefi-protocol v0.0.5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335024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· Arbitrum Sepolia · SYNCED 100% · 9 entities</a:t>
            </a:r>
            <a:endParaRPr lang="en-US" sz="9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572768"/>
            <a:ext cx="402336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Verified — Arbitrum Sepolia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contracts live on Chain ID 421614 · All verified on Arbiscan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875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566160" y="98755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321040" y="987552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353312"/>
            <a:ext cx="8503920" cy="365760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380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 (ERC-20 governance)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20440" y="138074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0x407a5Da64E3fc9FF202b76355d0FC0F34390c41A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321040" y="138074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746504"/>
            <a:ext cx="8503920" cy="365760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77393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GameItems proxy (ERC-1155 UUPS)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20440" y="17739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0xd38cA79ADFc7300A95adaAc16A5F543c205eBf64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21040" y="17739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139696"/>
            <a:ext cx="8503920" cy="365760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6712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GameFactory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20440" y="216712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0x545901c94Ce4bCB7960CeCB69C8b3C505Fcdd836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21671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532888"/>
            <a:ext cx="8503920" cy="365760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560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TimelockController (2-day delay)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20440" y="25603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0x1ABA8B2a61196EDDd50C4456733D63Ff5f6139e0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321040" y="256032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8503920" cy="365760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5351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GameDAO (Governor)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20440" y="295351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0xCb0aD118Fc15313305d138097A2E6AE21706A59C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21040" y="295351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319272"/>
            <a:ext cx="8503920" cy="365760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3467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GameAMM (x·y=k, 0.3% fee)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0440" y="334670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0xFf494842f23dbad3b478CDe35486e101cD880AF9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21040" y="334670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3712464"/>
            <a:ext cx="8503920" cy="365760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398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 (ERC-4626)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520440" y="373989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0xCB082d44E32f27D30C54c28F947A8C54fDFb6de8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21040" y="37398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105656"/>
            <a:ext cx="8503920" cy="365760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1330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NFTRentalVault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520440" y="413308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0x476016df3bE27D697aB1494922Ac5352B936BcbF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21040" y="41330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0040" y="4498848"/>
            <a:ext cx="8503920" cy="365760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526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LootDrop (Chainlink VRF)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520440" y="452628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0xD1d24f55107c7ee9FDE319502d8Bca9fe1bB288c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21040" y="4526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20040" y="495604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sepolia.arbiscan.io  ·  All contracts source-verified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Verification — Arbiscan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GameDAO contract · propose() function · live on Arbitrum Sepolia Testnet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402336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Arbiscan — GameDAO Contract Interface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35024"/>
            <a:ext cx="841248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504748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Address: 0xCb0aD118Fc15313305d138097A2E6AE21706A59C  ·  Arbitrum Sepolia Testnet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Suite — 133 Tests · All Pass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· Unit + Fuzz + Invariant + Fork tests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96596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87552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47472" y="18013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" y="21214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function testing, access control, edge cases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04872" y="987552"/>
            <a:ext cx="196596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04872" y="987552"/>
            <a:ext cx="19659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04872" y="18013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96312" y="21214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Property-based testing with 256 random runs each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62272" y="987552"/>
            <a:ext cx="196596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62272" y="987552"/>
            <a:ext cx="19659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462272" y="18013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53712" y="21214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testing: 64 runs, depth 15 per invariant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19672" y="987552"/>
            <a:ext cx="196596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9672" y="987552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19672" y="1115568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519672" y="180136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Tests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11112" y="2121408"/>
            <a:ext cx="1783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fork with real Chainlink oracles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472" y="257860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 Cases: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" y="2907792"/>
            <a:ext cx="8412480" cy="310896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907792"/>
            <a:ext cx="713232" cy="310896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907792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invariant_k_never_decreases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389120" y="2926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constant never drops after any swap sequence (GameAMM)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7472" y="3255264"/>
            <a:ext cx="8412480" cy="310896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3255264"/>
            <a:ext cx="713232" cy="310896"/>
          </a:xfrm>
          <a:prstGeom prst="rect">
            <a:avLst/>
          </a:prstGeom>
          <a:solidFill>
            <a:srgbClr val="3B82F6">
              <a:alpha val="7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3255264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15568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invariant_totalAssets_gte_deposits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4389120" y="327355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assets always &gt;= total deposited (GameVault)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347472" y="3602736"/>
            <a:ext cx="8412480" cy="310896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3602736"/>
            <a:ext cx="713232" cy="310896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602736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15568" y="36210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testFuzz_swapAtoB(uint256)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4389120" y="36210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amountIn value preserves the k invariant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47472" y="3950208"/>
            <a:ext cx="8412480" cy="310896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3950208"/>
            <a:ext cx="713232" cy="310896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3950208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1556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testFuzz_addLiquidity(uint64,uint64)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4389120" y="39684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shares always proportional to deposit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347472" y="4297680"/>
            <a:ext cx="8412480" cy="310896"/>
          </a:xfrm>
          <a:prstGeom prst="rect">
            <a:avLst/>
          </a:prstGeom>
          <a:solidFill>
            <a:srgbClr val="1A2B40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4297680"/>
            <a:ext cx="713232" cy="310896"/>
          </a:xfrm>
          <a:prstGeom prst="rect">
            <a:avLst/>
          </a:prstGeom>
          <a:solidFill>
            <a:srgbClr val="A855F7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297680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15568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test_reentrancy_blocked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4389120" y="43159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ReentrancyAttacker contract reverts on re-entry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" y="4645152"/>
            <a:ext cx="8412480" cy="310896"/>
          </a:xfrm>
          <a:prstGeom prst="rect">
            <a:avLst/>
          </a:prstGeom>
          <a:solidFill>
            <a:srgbClr val="1E293B"/>
          </a:solidFill>
          <a:ln w="3810">
            <a:solidFill>
              <a:srgbClr val="2D3F5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7472" y="4645152"/>
            <a:ext cx="713232" cy="310896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645152"/>
            <a:ext cx="7132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15568" y="4663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test_fork_chainlink_priceFeed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4389120" y="4663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Chainlink feed returns non-stale fresh price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— Findings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· Slither + manual review · Zero High/Medium findings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965960" cy="114300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1051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1673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987552"/>
            <a:ext cx="1965960" cy="1143000"/>
          </a:xfrm>
          <a:prstGeom prst="rect">
            <a:avLst/>
          </a:prstGeom>
          <a:solidFill>
            <a:srgbClr val="1A0A0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051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23160" y="1673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98848" y="987552"/>
            <a:ext cx="1965960" cy="1143000"/>
          </a:xfrm>
          <a:prstGeom prst="rect">
            <a:avLst/>
          </a:prstGeom>
          <a:solidFill>
            <a:srgbClr val="1A100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98848" y="1051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498848" y="1673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74536" y="987552"/>
            <a:ext cx="1965960" cy="1143000"/>
          </a:xfrm>
          <a:prstGeom prst="rect">
            <a:avLst/>
          </a:prstGeom>
          <a:solidFill>
            <a:srgbClr val="0E1A0E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74536" y="10515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74536" y="167335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Low/Info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240280"/>
            <a:ext cx="841248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240280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313432"/>
            <a:ext cx="658368" cy="219456"/>
          </a:xfrm>
          <a:prstGeom prst="rect">
            <a:avLst/>
          </a:prstGeom>
          <a:solidFill>
            <a:srgbClr val="2D18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134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2295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LOW-01 · Centralized Mint Authority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34440" y="25694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GameToken.sol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26280" y="2295144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holds unrestricted mint capability until Timelock transfer. Risk: pre-transfer single-point-of-failure. Mitigation: transfer ownership to Timelock immediately after deployment.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926080"/>
            <a:ext cx="841248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26080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999232"/>
            <a:ext cx="658368" cy="219456"/>
          </a:xfrm>
          <a:prstGeom prst="rect">
            <a:avLst/>
          </a:prstGeom>
          <a:solidFill>
            <a:srgbClr val="2D18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992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34440" y="2980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LOW-02 · Proposal Threshold Impact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234440" y="32552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GameDAO.sol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26280" y="2980944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 proposal threshold (10,000 GAME) restricts smaller holders from creating proposals. In testnet with limited supply this reduces participation. Recommendation: configurable via Timelock.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3611880"/>
            <a:ext cx="841248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3611880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3685032"/>
            <a:ext cx="658368" cy="219456"/>
          </a:xfrm>
          <a:prstGeom prst="rect">
            <a:avLst/>
          </a:prstGeom>
          <a:solidFill>
            <a:srgbClr val="2D18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6850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234440" y="36667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LOW-03 · Hardcoded VRF Gas Limit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234440" y="39410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LootDrop.sol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26280" y="3666744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CALLBACK_GAS_LIMIT = 200,000 is hardcoded constant. Future GameItems upgrades may require more gas for mint logic. Risk: VRF fulfillment reverts silently. Make configurable.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47472" y="4297680"/>
            <a:ext cx="8412480" cy="621792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47472" y="4297680"/>
            <a:ext cx="45720" cy="6217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4370832"/>
            <a:ext cx="658368" cy="219456"/>
          </a:xfrm>
          <a:prstGeom prst="rect">
            <a:avLst/>
          </a:prstGeom>
          <a:solidFill>
            <a:srgbClr val="1A1E1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7083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234440" y="43525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GAS-01 · Repeated Storage Reads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234440" y="46268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NFTRentalVault.sol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26280" y="4352544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platformFee is read from storage multiple times in rentItem(). Cache to local variable to save gas. Minor optimization opportunity.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Case Study: Reentrancy Attack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 diagram from Security Audit Report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5303520" cy="4041648"/>
          </a:xfrm>
          <a:prstGeom prst="rect">
            <a:avLst/>
          </a:prstGeom>
          <a:solidFill>
            <a:srgbClr val="1E293B"/>
          </a:solidFill>
          <a:ln w="9525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241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Flow: GameItemsV2.craft()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35024"/>
            <a:ext cx="5212080" cy="36210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06440" y="987552"/>
            <a:ext cx="3017520" cy="4041648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06440" y="987552"/>
            <a:ext cx="45720" cy="40416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0424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Analysis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0" y="1417320"/>
            <a:ext cx="2743200" cy="640080"/>
          </a:xfrm>
          <a:prstGeom prst="rect">
            <a:avLst/>
          </a:prstGeom>
          <a:solidFill>
            <a:srgbClr val="0E1F35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35040" y="144475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1: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35040" y="166420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ReentrancyGuard (non-upgradeable version) causes storage collision in UUPS proxy context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5943600" y="2130552"/>
            <a:ext cx="2743200" cy="640080"/>
          </a:xfrm>
          <a:prstGeom prst="rect">
            <a:avLst/>
          </a:prstGeom>
          <a:solidFill>
            <a:srgbClr val="0E1F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157984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2: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35040" y="23774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nonReentrant only guards craft() — inherited ERC-1155 transfers have no lock, enabling callback exploitation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5943600" y="2843784"/>
            <a:ext cx="2743200" cy="640080"/>
          </a:xfrm>
          <a:prstGeom prst="rect">
            <a:avLst/>
          </a:prstGeom>
          <a:solidFill>
            <a:srgbClr val="0E1F35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8712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Applied: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035040" y="30906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ReentrancyGuardUpgradeable + extend guard to cover safeTransferFrom path</a:t>
            </a:r>
            <a:endParaRPr lang="en-US" sz="820" dirty="0"/>
          </a:p>
        </p:txBody>
      </p:sp>
      <p:sp>
        <p:nvSpPr>
          <p:cNvPr id="20" name="Shape 17"/>
          <p:cNvSpPr/>
          <p:nvPr/>
        </p:nvSpPr>
        <p:spPr>
          <a:xfrm>
            <a:off x="5943600" y="3557016"/>
            <a:ext cx="2743200" cy="640080"/>
          </a:xfrm>
          <a:prstGeom prst="rect">
            <a:avLst/>
          </a:prstGeom>
          <a:solidFill>
            <a:srgbClr val="0E1F35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3584448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 Pattern: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35040" y="38039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decremented before mint, mint before external call — state changes committed before interactions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5943600" y="4270248"/>
            <a:ext cx="2743200" cy="64008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0" y="429768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Coverage: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035040" y="451713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test_reentrancy_blocked: ReentrancyAttacker contract confirms re-entry is rejected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— Defense in Depth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layers of protection applied throughout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070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Checks-Effects-Interactions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 mutations committed before external calls. Prevents reentrancy at the logic level independent of guards.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457200" y="186537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GameAMM, GameVault, NFTRentalVault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26280" y="987552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987552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60704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ReentrancyGuard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OpenZeppelin nonReentrant modifier on all external state-changing functions. Hard lock preventing callback exploitation.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4663440" y="186537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GameAMM, GameVault, NFTRentalVault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139696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39696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128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AccessControl / Ownable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523744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MINTER_ROLE and UPGRADER_ROLE gating on GameItems. Ownable on GameToken, GameVault, NFTRentalVault.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All contracts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26280" y="2139696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139696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2128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SafeERC20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2523744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all ERC-20 transfers using safe versions that revert on failure, preventing silent transfer failures.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4663440" y="3017520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GameAMM, GameVault, NFTRentalVault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291840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291840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36499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TimelockController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mandatory delay on all governance-executed actions. Community can monitor and react before execution.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57200" y="416966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GameDAO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26280" y="3291840"/>
            <a:ext cx="4023360" cy="107899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3291840"/>
            <a:ext cx="45720" cy="10789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364992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Oracle Staleness Check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675888"/>
            <a:ext cx="38221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GameVault reverts if Chainlink price feed updatedAt is older than 1 hour. Prevents stale price exploitation.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4663440" y="4169664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Applied: GameVault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Security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Flash-loan resilience · Whale analysis · Timelock bypass analysis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Flash-Loan Attack Resilience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GameDAO uses ERC20Votes with historical voting checkpoints. Voting power is read from the proposal SNAPSHOT BLOCK — not current balance. An attacker borrowing GAME tokens after proposal creation has ZERO voting power on that proposal. The 1-day voting delay further prevents instant manipulation.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4636008" y="987552"/>
            <a:ext cx="411480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 Whale Concentration Risk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73168" y="1426464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GAME holders can influence outcomes. Mitigated by: 4% quorum requirement, 1-week public voting period (community can react), 2-day Timelock (time to exit), and public proposal visibility. Economic risk, not a contract bug.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0040" y="2788920"/>
            <a:ext cx="411480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Timelock Bypass Analysis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22783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privileged actions route through TimelockController with a 2-day delay. TimelockController address is the DEFAULT_ADMIN_ROLE holder on GameItems and the owner() on all other contracts. No direct admin access pathway exists post-deployment.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636008" y="2788920"/>
            <a:ext cx="411480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A855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28803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Oracle Manipulation Resistance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3168" y="3227832"/>
            <a:ext cx="384048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GameAMM uses pool reserves (not oracle) for pricing — immune to oracle price manipulation. GameVault uses Chainlink only for informational USD valuation. Staleness check (&gt;1 hour) prevents stale price abuse. AMM slippage protection (minAmountOut) protects users from sandwich attacks.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Optimization &amp; L2 Deployment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 assembly benchmarks · L1 vs Arbitrum Sepolia cost analysis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 Assembly vs Solidity (GameAMM)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16736"/>
            <a:ext cx="100584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33502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25880" y="1316736"/>
            <a:ext cx="100584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62456" y="133502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1316736"/>
            <a:ext cx="100584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8296" y="133502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316736"/>
            <a:ext cx="100584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335024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700784"/>
            <a:ext cx="10058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" y="171907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_sqrt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25880" y="1700784"/>
            <a:ext cx="10058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62456" y="171907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~230 gas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31720" y="1700784"/>
            <a:ext cx="10058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8296" y="171907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~170 gas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1700784"/>
            <a:ext cx="100584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4136" y="1719072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 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084832"/>
            <a:ext cx="100584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" y="21031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_getAmountOut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325880" y="2084832"/>
            <a:ext cx="100584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2456" y="21031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~115 gas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084832"/>
            <a:ext cx="100584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68296" y="21031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 gas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2084832"/>
            <a:ext cx="100584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74136" y="2103120"/>
            <a:ext cx="950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 ✓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89120" y="987552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Ethereum vs Arbitrum Sepolia L2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0" y="1316736"/>
            <a:ext cx="182880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5696" y="133502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1316736"/>
            <a:ext cx="118872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1335024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L1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06640" y="1316736"/>
            <a:ext cx="128016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43216" y="1335024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L2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89120" y="1700784"/>
            <a:ext cx="182880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25696" y="171907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GameToken deploy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17920" y="1700784"/>
            <a:ext cx="118872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1719072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~1,200,000 gas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1700784"/>
            <a:ext cx="12801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3216" y="1719072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0" y="2084832"/>
            <a:ext cx="182880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25696" y="2103120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addLiquidity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17920" y="2084832"/>
            <a:ext cx="118872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2103120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~180,000 gas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06640" y="2084832"/>
            <a:ext cx="128016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43216" y="2103120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89120" y="2468880"/>
            <a:ext cx="182880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25696" y="2487168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swapAtoB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17920" y="2468880"/>
            <a:ext cx="118872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4496" y="2487168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~85,000 gas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06640" y="2468880"/>
            <a:ext cx="12801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43216" y="2487168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389120" y="2852928"/>
            <a:ext cx="182880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25696" y="2871216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ERC-4626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17920" y="2852928"/>
            <a:ext cx="118872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2871216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~95,000 gas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06640" y="2852928"/>
            <a:ext cx="128016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43216" y="2871216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89120" y="3236976"/>
            <a:ext cx="182880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25696" y="3255264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listItem (rental)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217920" y="3236976"/>
            <a:ext cx="118872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54496" y="3255264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~110,000 gas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406640" y="3236976"/>
            <a:ext cx="1280160" cy="347472"/>
          </a:xfrm>
          <a:prstGeom prst="rect">
            <a:avLst/>
          </a:prstGeom>
          <a:solidFill>
            <a:srgbClr val="1E293B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43216" y="3255264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389120" y="3621024"/>
            <a:ext cx="182880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25696" y="3639312"/>
            <a:ext cx="17739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 (DAO)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217920" y="3621024"/>
            <a:ext cx="118872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54496" y="3639312"/>
            <a:ext cx="11338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~200,000 gas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406640" y="3621024"/>
            <a:ext cx="1280160" cy="347472"/>
          </a:xfrm>
          <a:prstGeom prst="rect">
            <a:avLst/>
          </a:prstGeom>
          <a:solidFill>
            <a:srgbClr val="1A2B40"/>
          </a:solidFill>
          <a:ln w="3810">
            <a:solidFill>
              <a:srgbClr val="6474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443216" y="3639312"/>
            <a:ext cx="1225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20040" y="4059936"/>
            <a:ext cx="8503920" cy="475488"/>
          </a:xfrm>
          <a:prstGeom prst="rect">
            <a:avLst/>
          </a:prstGeom>
          <a:solidFill>
            <a:srgbClr val="0E1F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0040" y="4059936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~10x cheaper on Arbitrum Sepolia vs Ethereum Mainnet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20040" y="46268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Patterns: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755648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55648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970494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70494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UUPS Proxy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185339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85339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5400185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400185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Pull-over-Push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615031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15031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Adapter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829877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829877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 Guard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9044722" y="4626864"/>
            <a:ext cx="1141694" cy="274320"/>
          </a:xfrm>
          <a:prstGeom prst="rect">
            <a:avLst/>
          </a:prstGeom>
          <a:solidFill>
            <a:srgbClr val="0E1F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044722" y="4626864"/>
            <a:ext cx="11416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Timelock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Infrastructure: Slither + The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results · Subgraph indexing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Slither Static Analysis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slither . --foundry-compile-all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3474720" cy="402336"/>
          </a:xfrm>
          <a:prstGeom prst="rect">
            <a:avLst/>
          </a:prstGeom>
          <a:solidFill>
            <a:srgbClr val="1A0A0A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173736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3474720" cy="402336"/>
          </a:xfrm>
          <a:prstGeom prst="rect">
            <a:avLst/>
          </a:prstGeom>
          <a:solidFill>
            <a:srgbClr val="1A1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2128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91640" y="22128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688336"/>
            <a:ext cx="3474720" cy="402336"/>
          </a:xfrm>
          <a:prstGeom prst="rect">
            <a:avLst/>
          </a:prstGeom>
          <a:solidFill>
            <a:srgbClr val="0A1A0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8833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68833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(src)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163824"/>
            <a:ext cx="3474720" cy="402336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6382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91640" y="3163824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657600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in production source contracts (src/) resolved to zero High and zero Medium. Remaining flags are in OpenZeppelin + Chainlink library code — triaged and accepted.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987552"/>
            <a:ext cx="416052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87552"/>
            <a:ext cx="45720" cy="3931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42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The Graph Subgraph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14447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007608" y="144475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gamefi-protocol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846320" y="164592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85623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007608" y="18562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v0.0.5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4846320" y="205740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26771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007608" y="226771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· SYNCED 100%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846320" y="246888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67919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Network: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6007608" y="267919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Arbitrum Sepolia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4846320" y="288036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9067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6007608" y="309067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indexed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4846320" y="3291840"/>
            <a:ext cx="3749040" cy="9144"/>
          </a:xfrm>
          <a:prstGeom prst="rect">
            <a:avLst/>
          </a:prstGeom>
          <a:solidFill>
            <a:srgbClr val="64748B">
              <a:alpha val="3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5021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Progress: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6007608" y="350215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synced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4846320" y="3977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Events: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46320" y="42336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tokenTransfers · swaps · liquidityEvents · listings · rentals · proposals · votes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Deliverables Submitted ✅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786384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GameFi Protocol — SE-2421 · Gizatov · Rymbaev · Kalieva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52144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52144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 Contracts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&amp; verified on Arbitrum Sepolia (Chain ID 421614)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80560" y="1152144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152144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216152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133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1499616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110+ unit · 16 fuzz · 5 invariant · 3 fork · all pass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274320" y="1938528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938528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025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0 High/Medium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28600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 clean · Slither static analysis passed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480560" y="1938528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938528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002536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Yul Optimizations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286000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−26% sqrt · −18% getAmountOut vs Solidity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274320" y="2724912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724912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7889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 Design Patterns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07238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· UUPS · CEI · Pull-Push · Oracle · Guard · Timelock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480560" y="2724912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560" y="2724912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7889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Graph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3072384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 deployed · 9 entities · 100% synced on Arbitrum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74320" y="3511296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511296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57530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Chainlink VRF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85876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subscription · 2 consumers · 5 LINK funded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4480560" y="3511296"/>
            <a:ext cx="402336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80560" y="3511296"/>
            <a:ext cx="4572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17720" y="357530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Documentation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3858768"/>
            <a:ext cx="3822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doc · Security audit · Gas report · README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github.com/Heb1ks/BlockFINAL2-  ·  sepolia.arbiscan.io  ·  Chain ID: 421614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2026-05-17T20:55:58Z</dcterms:created>
  <dcterms:modified xsi:type="dcterms:W3CDTF">2026-05-17T20:55:58Z</dcterms:modified>
</cp:coreProperties>
</file>